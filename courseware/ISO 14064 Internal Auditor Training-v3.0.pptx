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56357-SO-14064-Internal-Auditor-Traini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554480"/>
            <a:ext cx="5852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5943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14064 Internal Auditor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69080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70832"/>
            <a:ext cx="5760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TGS-2025056357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v3.0  ·  20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this profile before class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developer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ISO internal auditing, GHG accounting, lifecycle assessment and evidence-based improvement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and technical programmes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Name, organisation and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footprint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emission source or climate issue relevant to your 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recurring GHG data, reporting or reduction problem.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successful learning looks like after two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Ask, challenge and contribute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conversation at a time; disagree professionally.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information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fictional or sanitised workplace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practical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idea to a process or decision.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 the result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your activity output before submission.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· ISO 14064 architecture, internal-audit practice, GHG principles, scopes and boundary decisions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administration, ISO family and audit principles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audit planning and Activities 1-2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evidence practice and Activity 3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15:30-18:00 · scopes, boundaries and Activities 4-5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· Lifecycle inventory, quantification, uncertainty, benchmarking, reporting and audit close-out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9:00-10:30 · hotspots, mitigation and Activity 6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10:40-13:00 · lifecycle inventory and Activity 7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14:00-15:20 · quantification, uncertainty and Activities 8-9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15:30-16:00 · Activity 10 and wrap-up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16:00-18:00 · WA then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FOOTPRINT MANAGEMENT · PRE-ENV-5001-1.1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process mappings and document GHG accounting reports aligned to ISO 14064 and international verification guidelines.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lifecycle boundaries and determine emission sources to identify carbon reduction opportunities in line with assessment principles.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Construct lifecycle inventory data for carbon footprint assessments using product configurations and scoped emission categories.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uncertainty factors and evaluate product carbon performance against industry benchmarks.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FOOTPRINT MANAGEMENT · PRE-ENV-5001-1.1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Alignment · K1-K5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ISO 14001, ISO 14064 and other relevant standards and guidelines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Concepts and principles of carbon footprint assessments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Product lifecycles and product configurations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Types of emissions and corresponding 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Scopes of carbon footprints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FOOTPRINT MANAGEMENT · PRE-ENV-5001-1.1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Knowledge Alignment · K6-K8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Types of uncertainty factors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Industry benchmarks for specific products' carbon footprints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International guidelines and principles for carbon footprint assessments and documentation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FOOTPRINT MANAGEMENT · PRE-ENV-5001-1.1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Alignment · A1-A4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process mappings in accordance with product lifecycle requirements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boundary conditions, assumptions and prioritisation for product lifecycles according to international guidelines and principles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Construct lifecycle inventory data based on developed product lifecycle boundaries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Assess carbon footprints of product lifecycles using carbon footprint assessment software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 FOOTPRINT MANAGEMENT · PRE-ENV-5001-1.1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Alignment · A5-A8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Determine uncertainty factors based on carbon footprint assessments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carbon footprint performance of selected products against industry benchmarks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Determine emissions hot spots and propose potential carbon footprint reduction approaches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 results and prepare reports according to international guidelines and principles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discussion; answer in your own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activity material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Place phones and other materials under the table; no recording.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provided document and upload to the LMS.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Competency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assessed K and A criterion must be Competent.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routes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8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K1-K8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One coherent scenario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A1-A8 · 1 hour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 in both instruments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Funding criteria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 · CONTROL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TRAQOM and assessment attendance are complete.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Instruments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Written Assessment and Case Study are completed individually.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Answers are uploaded to the LMS within the assessment window.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Assessment Summary Record is reviewed and signed.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SELF-CONTAINED ACTIVITY PACKS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repository link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Copy the HTTPS clone URL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the activities folder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Option B · 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GitHub · Code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Download ZIP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Extract and open activities/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Each folder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README.md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Working XLSX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Printable PDF/checklist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Open the ISO 14064 Internal Auditor activity repository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CONCEPT MODEL · DETAILED PROCEDURES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Evidence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realistic HarbourLight decision context with declared constraints.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Applicable requirements, boundaries, assumptions and acceptance rules.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Traceable records, calculations, interviews and professional judgement.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Conclusion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decision-ready output tested against explicit acceptance criteria.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Portal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Download the learner slides and Learner Guide.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Open the complete Activities folder and working files.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•  Complete and submit assessments only during the scheduled window.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ic-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498348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Introduction to ISO 14064 and Verification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434840"/>
            <a:ext cx="4892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ISO 14064 family · ISO 14001 integration · accounting principles · audit and verification practice · reporting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"/>
            <a:ext cx="2011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D8E2EE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Audit against declared ISO, programme and organisational criteria—not auditor preference.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verifiable records, observations, interviews and recalculation to support conclusions.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Focus effort where misstatement, omission or unsupported claims could affect users' decisions.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Make scope, methods, limitations, findings and corrective actions transparent and traceable.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14064 family and assurance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Organisation-level principles and requirements for inventory design, quantification and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Project-level quantification, monitoring and reporting of emission reductions or removal enhancements.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Requirements and guidance for validating and verifying GHG statements.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 audit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organisation-led evaluation of readiness, controls and evidence; it does not itself create third-party assurance.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ISO 14064 FAMILY AND ASSURANCE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Name the applicable part and edition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organisation, project and product assertions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intended users and assurance purpose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authorised standards text for conformance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ISO 14064 is not one undifferentiated certificate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project credit is not an organisational removal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audit does not replace independent verification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claim conformance from a checklist alone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Purpose and architecture of ISO 14064-1:2018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 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purpose, organisational boundary, reporting boundary, base year and methods.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Development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sources and sinks, select data and factors, quantify and consolidate.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roles, maintain information systems, assess uncertainty and review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Disclose boundaries, categories, methods, exclusions, uncertainty and performance transparently.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PURPOSE AND ARCHITECTURE OF ISO 14064-1:2018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each report claim to a controlled process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the significance approach for indirect emissions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base-year and recalculation rules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management responsibility for the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2018 edition is not a simple Scope 1-2-3 checklist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Completeness still requires justified exclusions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Verification readiness is not verified status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polished report can hide weak source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14001 integration and the management-system 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Climate, stakeholder and compliance issues influence EMS and GHG priorities.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Environmental aspects, obligations, risks and objectives can incorporate GHG sources and targets.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 and operation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Competence, communication, document control and operational controls support inventory reliability.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 and improvement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Monitoring, internal audit, management review and corrective action create a repeatable control cycle.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ISO 14001 INTEGRATION AND THE MANAGEMENT-SYSTEM 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Reuse governance without merging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GHG data owners into EMS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Connect findings to corrective action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Escalate material climate and claims risks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ISO 14001 certification does not prove inventory accuracy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GHG boundaries can differ from EMS boundaries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audit plan may not cover both standards fully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duplicate uncontrolled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Related standards and frameworks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14065 and 14066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Requirements for validation/verification bodies and competence of GHG teams.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14067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Product carbon-footprint principles and requirements within lifecycle assessment.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19011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Guidance for audit programmes, risk-based planning, evidence and auditor competence.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GHG Protocol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Widely used corporate, Scope 2 and value-chain accounting guidance that can complement declared ISO criteria.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RELATED STANDARDS AND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Create a criteria crosswalk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definitions that differ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programme rules when contractually applicable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the controlling criteria explicit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Related does not mean interchangeable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Scope labels and ISO categories are not identical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and organisation footprints answer different questions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crosswalk needs expert judgement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GHG accounting principles as audit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Relevance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Boundaries and information serve intended users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Completeness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significant sources and sinks are included or exclusions are justified.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Methods support comparison over time and changes are disclosed.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Accuracy and transparency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Bias and uncertainty are reduced and assumptions, evidence and limitations remain visible.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GHG ACCOUNTING PRINCIPLES AS AUDIT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Turn every principle into an audit question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principles when prescriptive rules are silent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Seek evidence of trade-off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Apply professional scepticism to favourable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Principles interact and can conflict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Completeness does not mean perfect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Consistency does not freeze weak methods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Transparency does not cure avoidable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Verification planning: scope, criteria and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Objectives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what the engagement must conclude and for whom.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statement, entity, locations, period, categories and activities covered.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the standard, programme rules, calculation policies and materiality basis.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Assurance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Limited and reasonable assurance require different evidence depth and conclusion forms.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VERIFICATION PLANNING: SCOPE, CRITERIA AND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Resolve ambiguous criteria before testing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risk assessment to evidence effort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changes to scope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Align competence and resources to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More samples do not fix unclear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Materiality is not only a percentage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Limited assurance is not low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audit should not mimic an external opinion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Risk-based internal audit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Programme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Prioritise audits by significance, change, prior findings and stakeholder risk.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objectives, scope, criteria, team, independence, timetable and sampling strategy.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Open, interview, observe, inspect, recalculate, corroborate and communicate emerging issues.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Close and follow 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Report findings, agree responsibilities, verify correction and test effectiveness.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RISK-BASED INTERNAL AUDIT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Plan backward from required conclusions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Maintain independence from inventory preparation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daily team calibration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findings to verified closure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audit is not an inspection tour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Interview statements need corroboration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Prescribing solutions can compromise independence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Closing a task is not proving effectiveness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Objective evidence, sampling and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types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Records, observations, interviews, confirmations, analytics and reperformance provide different strengths.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Sampling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high-value, high-risk, unusual and representative items using a documented rationale.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Triangulation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Corroborate important conclusions across independent evidence sources.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 trail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criterion, evidence, evaluation, finding, owner, correction and follow-up status.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OBJECTIVE EVIDENCE, SAMPLING AND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Trace top-down and bottom-up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population and sample logic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Retest corrected calculations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Distinguish fact, judgement and 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large sample can still be biased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document may be internally consistent but false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Absence of evidence is not always evidence of absence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vague findings such as documentation weak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INTRODUCTION TO ISO 14064 AND VERIFICATION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Map the GHG System and Audit Criteria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K2 · K8 · A1 · A8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Plan a Risk-Based ISO 14064 Internal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K8 · A8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45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Conduct Evidence Interviews and a Reporting Gap Review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K8 · A8 · LO1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K8 · A1 · A8 · LO1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the GHG System and Audit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join HarbourLight Electronics' internal audit team and turn fragmented GHG processes into a criterion-linked system map.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GHG process map, criteria crosswalk, document request list and audit-ready reporting index.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Scenario dossier · criteria cards · process-map workbook · report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K2 · K8 · A1 · A8 · LO1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ISO and programme crosswalk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GHG reporting-system map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Requests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Risk-linked evidence list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Index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Audit-ready reporting trail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the GHG System and Audit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assertion is assigned to declared criteria; the process map shows all major data and approval hand-offs; the reporting index links requirements to retrievable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K8 · A8 · LO1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Risk-Based ISO 14064 Internal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convert HarbourLight's audit mandate into a defensible plan that focuses effort on material misstatement and claims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audit charter, risk assessment, sampling plan, interview schedule and opening-meeting agenda.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Audit mandate · prior-finding summary · population listings · planning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K8 · A8 · LO1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Charter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Objectives, scope and criteria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Material-misstatement screen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Sampling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Evidence-selection rationale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Timetable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fieldwork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Risk-Based ISO 14064 Internal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links risks to procedures and samples, defines independence and competence, covers both statements without scope ambiguity and can support the planned conclusions.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K8 · A8 · LO1 · 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Evidence Interviews and a Reporting Gap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conduct simulated interviews and document testing across HarbourLight's GHG reporting process.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Interview records, evidence trails, recalculation samples, criterion-based findings and an issues briefing.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Role cards · evidence pack · draft report · finding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K8 · A8 · LO1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Interviews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Corroborated process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Source-to-report lineage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model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Findings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Criterion-evidence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Evidence Interviews and a Reporting Gap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Important interview claims are corroborated; recalculations are reproducible; findings link criterion, evidence and evaluation; fact and judgement remain clearly separated.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K1 · K2 · K8 · A1 · A8 · LO1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ISO 14064 and Verification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Audit against declared ISO, programme and organisational criteria—not auditor preference.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Translate ISO 14064 and related criteria into a process map and auditable requirements register.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audit objectives, scope, criteria, independence, risks, sampling and timetable for a two-day internal audit.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ic-02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498348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GHG Sources, Boundaries and Mitigation Activities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434840"/>
            <a:ext cx="4892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Scope 1, 2 and 3 · sources, sinks and reservoirs · organisational and lifecycle boundaries · hotspots · mitigation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"/>
            <a:ext cx="2011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D8E2E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organisation, product system, lifecycle stages, functional unit and exclusions before calculating.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Classification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Distinguish direct emissions, imported energy and other indirect value-chain sources consistently.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Significance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Prioritise indirect sources using magnitude, influence, risk, data quality and stakeholder interest.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Mitigation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Target material hotspots while checking cost, feasibility, burden shifting and evidence quality.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Scope 1, 2 and 3 alongside ISO reporting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 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 emissions from sources owned or controlled by the organisation.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 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Indirect emissions from generation of purchased electricity, steam, heat or cooling.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 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Other indirect upstream and downstream value-chain emissions.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ISO 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 emissions plus five indirect-emission categories organised around imported energy, transport, products and other 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SCOPE 1, 2 AND 3 ALONGSIDE ISO REPORTING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Classify by ownership, control and activity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every source to both reporting views where needed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location- and market-based Scope 2 distinct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for double counting across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Outsourcing does not remove significance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supplier invoice is not automatically Scope 3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Scope classification does not prove completeness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force ISO categories into GHG Protocol labels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Greenhouse gases, GWP and CO2e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Gas inventory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Carbon dioxide, methane, nitrous oxide and covered fluorinated gases require source-specific consideration.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Global warming potential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GWP converts gas mass to a common CO2-equivalent basis over a declared time horizon.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Source basis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selected IPCC assessment or programme basis must be versioned and applied consistently.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trail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Gas mass, factor, GWP value and CO2e result should remain separately traceable.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GREENHOUSE GASES, GWP AND CO2E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all relevant gases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Reperform factor and GWP multiplication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consistency across reporting years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Disclose changes to GWP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CO2e is a convention, not measured carbon dioxide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GWP tables change with scientific assessment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Refrigerant blends require correct composition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Rounding can hide material gas-level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Sources, sinks, reservoirs, removals and credits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process or activity that releases a GHG to the atmosphere.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Sink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process that removes a GHG from the atmosphere.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Reservoir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physical unit or component that stores a GHG or carbon stock.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Credit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external unit representing a project outcome; it is not automatically an organisational removal.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SOURCES, SINKS, RESERVOIRS, REMOVALS AND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physical processes before accounting labels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Require monitoring for removal claims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reversal and permanence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gross inventory and external credits separately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Trees on site do not guarantee a quantified removal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Avoided emissions differ from removals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Biogenic CO2 needs declared treatment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Purchased credits cannot erase source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Organisational boundary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Equity share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Account according to the organisation's economic interest.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operations governed through financial and operating policies.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Operational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 operations where the organisation can introduce and implement operating policies.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Ownership documents, leases, contracts, board rights and operating authority support the conclusion.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ORGANISATIONAL BOUNDARY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every entity and operation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Apply one consolidation approach consistently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joint arrangements and leases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Reassess after acquisitions or divestments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Legal ownership and control can differ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boundary choice can change trends materially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Contractors may remain significant indirect 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cherry-pick low-emission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Reporting boundary and significant indirect emissions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 universe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Start with all plausible direct and indirect sources across operations and value chain.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Significance criteria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magnitude, influence, risk, stakeholder interest, data quality and reduction opportunity.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log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scores, evidence, inclusion decisions, exclusions, owners and review dates.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Reassess significance when products, suppliers, sites, regulation or user needs change.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REPORTING BOUNDARY AND SIGNIFICANT INDIRECT EMISSIONS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Challenge low-data categories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procurement and logistics completeness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thresholds before seeing results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significant exclusions transparently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Data difficulty is not an exclusion criterion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Magnitude alone can miss claims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Spend-based screening is not final quantification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significance score is judgement, not proof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 lifecycle boundaries and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Goal and 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intended application, audience, product configuration and decision context.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Functional unit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quantified function and performance basis for consistent comparison.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System 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 cradle-to-gate, cradle-to-grave or other included lifecycle stages.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Document cut-offs, allocation, recycled content, use profile, lifetime and end-of-life assumptions.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PRODUCT LIFECYCLE BOUNDARIES AND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Draw the physical process map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included and excluded flows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sensitivity to major assumptions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comparability before benchmarking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product unit is not always a functional unit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Cut-offs can hide hotspots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Recycling can be double credited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Use-phase assumptions often dominate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Hotspot analysis and prioritisation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Magnitude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Rank contribution by lifecycle stage, source, gas and product component.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Influence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control, supplier leverage, design authority and customer-use influence.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Rate data quality and test whether uncertainty could change the ranking.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 emissions, feasibility, cost, timing, co-impact and risk into transparent priorities.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HOTSPOT ANALYSIS AND PRIORITISATION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contribution and Pareto views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Run sensitivity on weak high-impact inputs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screening from investment-grade analysis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why lower-ranked actions proceed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Largest is not always most controllable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Spend hotspots can reflect price, not mass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precise rank can be false precision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ignore small high-risk fugitive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K5 · A1 · A2 · A7 · LO2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Mitigation hierarchy and audit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Avoid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Remove unnecessary activity, demand or material before optimising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Reduce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Improve efficiency, yield, maintenance, logistics and process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Substitute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fuel, material, technology, design or service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Treat credits or removals separately and only after credible internal and value-chain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MITIGATION HIERARCHY AND AUDIT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Quantify expected and realised abatement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burden shifting across lifecycle stages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Assign owners, milestones and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claims against inventory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savings are not realised reductions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Intensity can fall while absolute emissions rise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Renewable certificates need claim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Offsets are not operational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GHG SOURCES, BOUNDARIES AND MITIGATION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Define Organisational and Product Lifecycle Boundaries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K5 · A1 · A2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the GHG Source, Sink and Scope Register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K4 · K5 · A2 · A7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45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Activity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Diagnose Hotspots and Design a Mitigation Roadmap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K3 · K4 · A7 · LO2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45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K5 · A1 · A2 · LO2 · 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Define Organisational and Product Lifecycle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resolve ownership, control, outsourced activity, functional-unit and lifecycle boundary decisions before quantification.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organisational boundary diagram, lifecycle process map, functional unit, system-boundary statement and assumptions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Group structure · product bill of materials · logistics facts · boundary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K5 · A1 · A2 · LO2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Entity and control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Functional unit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Comparable product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Lifecycle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Included stages and 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Assumptions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Transparent boundary decisions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Define Organisational and Product Lifecycle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named operation and lifecycle stage is addressed; the functional unit is comparable and measurable; exclusions and assumptions have transparent rationale, evidence and ownership.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· K5 · A2 · A7 · LO2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GHG Source, Sink and Scope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perform a structured completeness review of HarbourLight's operations and Lumina 400 value chain.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source/sink register, Scope and ISO-category map, significance scoring model and data-owner matrix.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Process narrative · ledger categories · facility records · significance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· K5 · A2 · A7 · LO2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Register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Sources, sinks and gases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Classification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Scope and ISO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Significance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Evidence-based prioritisation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 stewards and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GHG Source, Sink and Scope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scenario sources and gases are addressed; Scope and ISO categories are consistent; removals and credits remain separate; significance and ownership decisions are evidence-based.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A7 · LO2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Hotspots and Design a Mitigation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convert an initial screening footprint into a practical 24-month reduction roadmap for HarbourLight and the Lumina 400.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hotspot dashboard, influence-confidence matrix, mitigation options, prioritisation scorecard and phased roadmap.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Screening inventory · option fact cards · lifecycle map · roadmap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K3 · K4 · A7 · LO2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Hotspots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Magnitude and contribution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Influence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and leverage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 robustness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Roadmap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Phased mitigation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Diagnose Hotspots and Design a Mitigation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Priorities reflect magnitude, influence and uncertainty; selected actions avoid undisclosed burden shifts; milestones, owners and evidence requirements are explicit; no forecast is presented as achieved reduction.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K3 · K4 · K5 · A1 · A2 · A7 · LO2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Sources, Boundaries and Mitigation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organisation, product system, lifecycle stages, functional unit and exclusions before calculating.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consolidation, reporting-boundary and lifecycle rules to HarbourLight's organisation and Lumina 400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gases, sources, sinks and reservoirs; classify them consistently and assess significant indirect emissions.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Reduction Strategy → Carbon Strategy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ic-03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498348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Lifecycle Assessment and Carbon Footprint Quantification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434840"/>
            <a:ext cx="4892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Lifecycle phases · process mapping · lifecycle inventory · quantification models and software · inventory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"/>
            <a:ext cx="2011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D8E2E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Functional unit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Anchor comparisons to the same product function, performance and service life.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Collect traceable material, energy, transport, waste and emission data for every included unit process.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Connect foreground activity data to documented background factors and declared GWP values.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factors, protect formulas, reconcile totals and preserve the audit trail from source to report.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LCA phases and product configurations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Goal and 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purpose, audience, functional unit, product variants and system boundary.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Compile quantified inputs and outputs for each unit process.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Impact 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declared characterisation methods such as 100-year GWP.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Interpretation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completeness, sensitivity, consistency, hotspots and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LCA PHASES AND PRODUCT CONFIGURATIONS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configuration changes visible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products on equivalent function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Iterate when data gaps affect the goal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measured findings from scenario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LCA is iterative, not a one-pass calculation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lighter product may perform differently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Database completeness does not guarantee relevance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over-generalise one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 mapping for lifecycle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Unit processes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Break the lifecycle into decision-relevant transformation, transport, use and end-of-life stages.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Capture materials, energy, water, auxiliaries, packaging and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product, co-products, emissions, wastewater, solid waste and recyclable flows.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Interfaces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data owners, meters, invoices, supplier records and model links at each boundary.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PROCESS MAPPING FOR LIFECYCLE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Walk the process with operations staff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mass and energy where possible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 estimates and missing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the map to drive 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flowchart without quantities is not an inventory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Supplier processes may be hidden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Waste leaving site is not impact-free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mix product and organisational 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Lifecycle inventory data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Foreground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Company- or supplier-specific activity data for processes under direct influence.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Background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Database processes and factors for upstream or downstream activities.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Source, owner, period, geography, technology, unit, uncertainty and approval accompany each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Balance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Mass, energy, production and financial reconciliations reveal omissions and unit errors.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LIFECYCLE INVENTORY DATA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Create a data dictionary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stable IDs for processes and factors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raw and transformed values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totals to operational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Primary data can still be poor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Generic data can be appropriate but must be disclosed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Units are a frequent large-error source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Missing metadata destroys auditability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hierarchy and emission-factor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Direct measurement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Calibrated meters or continuous monitoring can support source-specific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Activity-based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Physical activity multiplied by a relevant documented factor is common and transparent.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Supplier-specific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Verified product or facility data can improve relevance when boundaries align.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Proxy or spend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Screening estimates are useful when labelled and improved for material 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HIERARCHY AND EMISSION-FACTOR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Match geography, technology and vintage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factor units and GWP inclusion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supplier boundary comparability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conservative proxies where justified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Newest is not always most representative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national factor may mask regional grids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Supplier claims may net credits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Factor precision can exceed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Quantification model and calculation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Activity data × emission factor × required conversion or GWP produces the declared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Allocation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Shared-process burdens need a justified physical, economic or other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Aggregation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Gas, source, process, stage, scope and category totals should reconcile.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Locked formulas, validation rules, peer recalculation and version logs reduce silent error.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QUANTIFICATION MODEL AND CALCULATION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Standardise units before multiplication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Reperform high-risk rows independently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sign and decimal errors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Preserve bridges between versions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balanced total can contain offsetting errors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Allocation can change conclusions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net credits into gross emissions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Spreadsheet protection is not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Carbon-footprint software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 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functional unit, product configuration, system boundary and impact method.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unit processes, enter foreground data and link controlled background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totals, contribution analysis, sensitivity, scenarios and data-quality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Preserve model version, datasets, settings, results and report tables for independent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CARBON-FOOTPRINT SOFTWARE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Validate one manual calculation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every high-contribution model link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Save assumptions outside the software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Re-run after controlled corrections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Software does not decide the boundary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Database names can hide different technologies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colourful Sankey is not assurance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updates can change results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Inventory information systems and internal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source, factor and report output has accountable preparation and review 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Permissions separate input, method approval, review and publication responsibilities.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control records who changed what, why, when and with which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Retention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 records, calculations, reviews and approvals remain retrievable for the defined period.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INVENTORY INFORMATION SYSTEMS AND INTERNAL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data lineage end to end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preventive and detective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Inspect exception logs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user access and approvals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Sustainability should not own every source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Email approval may not control the file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Automation can scale errors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Backups do not prove record 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K2 · K3 · K4 · K5 · A1 · A3 · A4 ·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 year, recalculation and verification-ready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 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a representative period with sufficient data and state why it is suitable.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triggers for structural change, methodology change and significant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pack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Index boundary decisions, source records, factors, calculations, controls, uncertainty and approvals.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Management 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Resolve findings and accept residual limitations before the statement is issued.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BASE YEAR, RECALCULATION AND VERIFICATION-READY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Publish the recalculation policy in advance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Build an audit-ready evidence index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Retain old and new method bridges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Require formal inventory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Ordinary performance change is not recalculation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Acquisitions can break comparability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data room without an index is inefficient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Management approval does not replace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LIFECYCLE ASSESSMENT AND CARBON FOOTPRINT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Construct the Lumina 400 Lifecycle Inventory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K4 · K5 · A1 · A3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Quantify and Audit the Product Carbon Footprint Model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K4 · K5 · A3 · A4 · LO3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55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K4 · K5 · A1 · A3 · LO3 · 50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Construct the Lumina 400 Lifecycle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translate the Lumina 400 process map into a unit-process inventory with auditable data sources and balances.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LCI data dictionary, unit-process register, material and energy inventory, data-quality ratings and gap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Bill of materials · production and supplier data · transport facts · LCI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· K4 · K5 · A1 · A3 · LO3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Unit processes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Boundary-aligned process 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 and energy 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Source, unit and quality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Balance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Reconciliation and gaps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Construct the Lumina 400 Lifecycle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included unit process has traceable inputs and outputs; metadata and quality ratings are complete; totals reconcile where possible; high-impact gaps have owned improvement 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K4 · K5 · A3 · A4 · LO3 · 55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Quantify and Audit the Product Carbon Footprint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build a tool-neutral calculation model, run contribution analysis and audit the trail from source record to reported footprint.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factor register, calculated footprint, software setup record, contribution analysis, audit tests and corrected result bridge.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LCI output · factor catalogue · calculation workbook · model review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· K4 · K5 · A3 · A4 · LO3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Factor 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Source, version and units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Reproducible footprint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Contributions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Decision-relevant hotspots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Corrections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Traceable audit bridge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Quantify and Audit the Product Carbon Footprint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model is reproducible, units and factors are controlled, seeded defects are resolved, contribution results reconcile, and the correction bridge preserves a complete audit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K3 · K4 · K5 · A1 · A3 · A4 · LO3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Lifecycle and Footprint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Anchor comparisons to the same product function, performance and service life.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a complete, metadata-rich lifecycle inventory from the approved product boundary and configuration.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 controlled spreadsheet/software workflow to quantify the Lumina 400 footprint and test its model integrity.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ic-04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28016" cy="2057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498348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Emission Calculations, Uncertainty and Performance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434840"/>
            <a:ext cx="4892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Calculations and removals · uncertainty · sensitivity · product benchmarks · trends · audit findings and follow-up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"/>
            <a:ext cx="2011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D8E2EE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· Core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compatible units, appropriate factors, declared GWP basis and transparent allocation.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Uncertainty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Assess activity data, factors, models, sampling and boundary judgement—not only spreadsheet arithmetic.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Benchmark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only after aligning functional unit, system boundary, geography, technology, vintage and method.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criterion, objective evidence, evaluation and consequence; verify correction and effectiveness.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Calculating stationary, mobile, process and fugitive emissions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Stationary combustion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Fuel use, calorific basis, oxidation and gas-specific factors support boiler and generator emissions.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Mobile combustion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Fuel-based methods are generally stronger than distance estimates when reliable consumption data exists.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 balance, chemistry or direct monitoring may quantify non-combustion releases.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Fugitive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Mass-balance, service records, leak detection and equipment inventories support refrigerant and gas losses.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CALCULATING STATIONARY, MOBILE, PROCESS AND FUGITIVE EMISSIONS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activity units and period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Check factor scope and oxidation assumptions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purchases, stocks and consumption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Sample maintenance and loss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Invoice totals may include non-reporting periods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Distance models hide load and fuel variation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Process factors may be technology-specific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Top-up is not always equal to annual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Purchased-energy accounting and renewable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Location-based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grid-average factors reflecting physical electricity consumption in the relevant geography.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Market-based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qualifying contractual instruments under declared quality and allocation rules.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Steam, heat and cooling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supplier, energy content, losses and appropriate generation factors.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instrument ownership, geography, vintage, exclusivity, cancellation or retirement and residual mix.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PURCHASED-ENERGY ACCOUNTING AND RENEWABLE CLAIMS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both Scope 2 views where criteria require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consumption to contracts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Prevent double allocation of certificates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Keep physical efficiency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Zero-emission claims need criteria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Certificates do not change onsite consumption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Supplier-specific factors can embed offsets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Renewable procurement is not the same as avoided emissions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Removals, avoided emissions and net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Organisational removal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quantified atmospheric removal attributable within the declared inventory boundary.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Project reduction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change relative to a baseline under project-level criteria.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Avoided emissions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comparative consequence outside the gross inventory and dependent on a counterfactual.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Net claim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communication that must disclose gross emissions, reductions, removals, credits, boundary and period.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REMOVALS, AVOIDED EMISSIONS AND NET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Test ownership and boundary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Review baseline and permanence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comparative results separately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Challenge claim wording against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renewable product does not create negative Scope 3 automatically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Credits are not company removals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Counterfactuals are uncertain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Net numbers can conceal rising gross emissions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Uncertainty taxonomy and data-quality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Activity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Meter accuracy, estimation, completeness, temporal match and sampling affect inputs.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Emission factors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Geography, technology, vintage, representativeness and statistical range affect conversion.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Allocation, system boundary, use profile, lifetime and end-of-life assumptions affect 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Scenario and judgement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Future conditions, significance, exclusions and expert choices may alter conclusions.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UNCERTAINTY TAXONOMY AND DATA-QUALITY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Rate reliability and representativeness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known error from uncertainty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improvement by decision impact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Disclose residual uncertainty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single percentage can hide different uncertainty types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Low uncertainty does not mean no bias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Qualitative assessment can still be rigorous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claim confidence beyond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Sensitivity, scenarios and quantitative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 one influential input or assumption to test its effect on the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coherent alternative futures, technologies, boundaries or use profiles.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Propagation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 input distributions analytically or through Monte Carlo simulation where justified.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threshold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 whether uncertainty could change ranking, conformance, target status or investment choice.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SENSITIVITY, SCENARIOS AND QUANTITATIVE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Start with high-impact weak inputs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plausible ranges and 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distributions and assumptions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Tie analysis to a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Wide ranges are not a substitute for better data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Inputs may be correlated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Monte Carlo precision can be misleading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Scenario outcomes are not forecasts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 carbon-footprint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Comparable unit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Align functional unit, performance, service life and product configuration.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Comparable 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lifecycle stages, cut-offs, allocation, recycling and use assumptions.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Comparable 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Align GWP basis, database, geography, technology and assessment vintage.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verified EPDs, product category rules, industry datasets and peer-reviewed studies with stated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PRODUCT CARBON-FOOTPRINT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Build a comparability screen before ranking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Normalise only when defensible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Show range and quartile, not one magic number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claims before marketing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Different PCRs may prevent comparison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Regional grid differences can dominate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Best-in-class data may be selective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lower number does not prove overall environmental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Performance over time and causal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Absolute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Total emissions show atmospheric contribution and scale effects.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Intensity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Emissions per unit of output or function show efficiency but depend on denominator quality.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Bridge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activity, structure, factor, method and genuine reduction effects between periods.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Control chart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Monitor trends, thresholds and anomalies without confusing normal variation with improvement.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PERFORMANCE OVER TIME AND CAUSAL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Recalculate base years when policy triggers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Reconcile initiatives to inventory sources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data-quality improvement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Investigate unexpected favourable variance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Intensity can improve while absolute emissions rise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Grid decarbonisation is not an internal project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Method changes can create artificial trends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Targets do not prove achievement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K4 · K6 · K7 · K8 · A5 · A6 · A8 · LO4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findings, closing meeting and follow-up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Conformity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 demonstrates that the stated criterion is met.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Nonconformity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Objective evidence shows a requirement is not fulfilled.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Observation or OFI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risk or improvement insight that is not mislabelled as a requirement breach.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Correction addresses the immediate issue; corrective action addresses cause and effectiveness.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AUDIT FINDINGS, CLOSING MEETING AND 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Apply in the 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Avoid 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Write criterion-evidence-evaluation findings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Calibrate severity before closing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Invite factual clarification without negotiating facts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implementation and effectiveness separately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hide requirements inside recommendations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missing record is not automatically a wrong result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Root cause is not repeat the finding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Closing evidence can be superficial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PRACTICE OVERVIEW · EMISSION CALCULATIONS, UNCERTAINTY AND PERFORMANCE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Activities · Topic 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Evaluate Uncertainty and Product Benchmark Performance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K6 · K7 · A5 · A6 · LO4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Close the Audit and Issue a Verification-Ready Report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K8 · A1 · A5 · A6 · A8 · LO1 · LO4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Detailed procedure in LG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Workbook and PDF pack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Evidence-based acceptance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A5 · A6 · LO4 ·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Uncertainty and Product Benchmark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test whether uncertainty or weak comparability could reverse HarbourLight's proposed lower-carbon product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uncertainty register, sensitivity analysis, benchmark comparability screen, normalised comparison and claim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Product model · uncertainty ranges · fictional EPD extracts · benchmarking workbook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K6 · K7 · A5 · A6 · LO4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9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Uncertainty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Data, factor and model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Decision-changing inputs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Benchmarks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Comparable performance basis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Claim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Evidence-bounded conclusion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Uncertainty and Product Benchmark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material uncertainty classes are addressed; sensitivity links to decisions; only genuinely comparable benchmarks influence the conclusion; claim wording matches evidence and limitations.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K8 · A1 · A5 · A6 · A8 · LO1 · LO4 · 40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Close the Audit and Issue a Verification-Ready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Learners complete the HarbourLight capstone with a closing meeting, audit report and follow-up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calibrated finding register, closing presentation, internal-audit report, corrective-action plan and follow-up test schedule.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Activities 1-9 outputs · finding rubric · report template · management role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· K8 · A1 · A5 · A6 · A8 · LO1 · LO4 · CONCEPT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· Evidence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Findings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Criterion and consequence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Balanced communication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Scope-accurate conclusion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Follow-up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Corrective-action effectiveness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ACCEPTANCE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Close the Audit and Issue a Verification-Ready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conclusion is evidence-based; the report is balanced and scope-accurate; disagreement is transparent; corrective action addresses cause; follow-up tests effectiveness rather than document completion alone.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K6 · K7 · K8 · A5 · A6 · A8 · LO4 · TOPIC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· Calculations, Uncertainty and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compatible units, appropriate factors, declared GWP basis and transparent allocation.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material uncertainty factors and compare the Lumina 400 with credible, method-aligned benchmarks.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Demonstrate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Consolidate evidence, communicate balanced conclusions and verify corrective action for the ISO 14064 internal audit.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the completed activity artefacts and review feedback.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GHG Evidence to Credible Audit 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process mappings and document GHG accounting reports aligned to ISO 14064 and international verification guidelines.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lifecycle boundaries and determine emission sources to identify carbon reduction opportunities in line with assessment principles.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Construct lifecycle inventory data for carbon footprint assessments using product configurations and scoped emission categories.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uncertainty factors and evaluate product carbon performance against industry benchmarks.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END-TO-END 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ISO 14064 Internal Audit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Criteria + scope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Declared standards, boundaries, users and assurance intent.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 plan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 claims, evidence gaps, sampling and independence.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 + findings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Corroboration, recalculation and criterion-based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Improvement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Correction, corrective action and effectiveness follow-up.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Get the learner slides PDF and Learner Guide.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Activities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the complete Activities folder and working 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WA and Case Study during the scheduled window.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completed answers and confirm successful submission.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8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K1-K8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A1-A8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 hour ·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Assessment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 · CONTROL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TRAQOM and assessment attendance are complete.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Instruments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Written Assessment and Case Study are completed individually.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Answers are uploaded to the LMS within the assessment window.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Assessment Summary Record is reviewed and signed.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required SSG digital-attendance session.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QR code shown by the trainer or administrator.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Wait for the successful submission acknowledgement.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is required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Follow the evidence. Challenge the claim. Improve the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Use ISO 14064 principles and disciplined audit judgement to make GHG decisions credible.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ISO 14064 Internal Auditor Training  ·  TGS-2025056357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